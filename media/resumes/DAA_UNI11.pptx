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4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4" r:id="rId6"/>
    <p:sldId id="265" r:id="rId7"/>
    <p:sldId id="266" r:id="rId8"/>
    <p:sldId id="267" r:id="rId9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77" r:id="rId19"/>
    <p:sldId id="279" r:id="rId20"/>
    <p:sldId id="280" r:id="rId21"/>
    <p:sldId id="281" r:id="rId22"/>
    <p:sldId id="282" r:id="rId23"/>
    <p:sldId id="283" r:id="rId24"/>
    <p:sldId id="284" r:id="rId25"/>
    <p:sldId id="285" r:id="rId26"/>
    <p:sldId id="286" r:id="rId27"/>
    <p:sldId id="287" r:id="rId28"/>
    <p:sldId id="288" r:id="rId29"/>
    <p:sldId id="289" r:id="rId30"/>
    <p:sldId id="294" r:id="rId31"/>
    <p:sldId id="295" r:id="rId32"/>
    <p:sldId id="290" r:id="rId33"/>
    <p:sldId id="291" r:id="rId34"/>
    <p:sldId id="293" r:id="rId35"/>
    <p:sldId id="296" r:id="rId36"/>
    <p:sldId id="302" r:id="rId37"/>
    <p:sldId id="292" r:id="rId38"/>
    <p:sldId id="297" r:id="rId39"/>
    <p:sldId id="298" r:id="rId40"/>
    <p:sldId id="299" r:id="rId41"/>
    <p:sldId id="300" r:id="rId42"/>
    <p:sldId id="301" r:id="rId43"/>
    <p:sldId id="303" r:id="rId44"/>
    <p:sldId id="304" r:id="rId45"/>
    <p:sldId id="305" r:id="rId46"/>
    <p:sldId id="306" r:id="rId47"/>
    <p:sldId id="307" r:id="rId48"/>
    <p:sldId id="308" r:id="rId49"/>
    <p:sldId id="309" r:id="rId50"/>
    <p:sldId id="311" r:id="rId51"/>
    <p:sldId id="310" r:id="rId5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296" y="-6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49199-3EC1-4952-BC9E-C2356E8DF248}" type="datetimeFigureOut">
              <a:rPr lang="en-US" smtClean="0"/>
              <a:pPr/>
              <a:t>8/26/2025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1D5CC-907B-420A-A414-0C9762FD750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0666430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49199-3EC1-4952-BC9E-C2356E8DF248}" type="datetimeFigureOut">
              <a:rPr lang="en-US" smtClean="0"/>
              <a:pPr/>
              <a:t>8/26/2025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1D5CC-907B-420A-A414-0C9762FD750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3930335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49199-3EC1-4952-BC9E-C2356E8DF248}" type="datetimeFigureOut">
              <a:rPr lang="en-US" smtClean="0"/>
              <a:pPr/>
              <a:t>8/26/2025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1D5CC-907B-420A-A414-0C9762FD750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569643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49199-3EC1-4952-BC9E-C2356E8DF248}" type="datetimeFigureOut">
              <a:rPr lang="en-US" smtClean="0"/>
              <a:pPr/>
              <a:t>8/26/2025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1D5CC-907B-420A-A414-0C9762FD750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3530483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49199-3EC1-4952-BC9E-C2356E8DF248}" type="datetimeFigureOut">
              <a:rPr lang="en-US" smtClean="0"/>
              <a:pPr/>
              <a:t>8/26/2025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1D5CC-907B-420A-A414-0C9762FD750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2932251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49199-3EC1-4952-BC9E-C2356E8DF248}" type="datetimeFigureOut">
              <a:rPr lang="en-US" smtClean="0"/>
              <a:pPr/>
              <a:t>8/26/2025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1D5CC-907B-420A-A414-0C9762FD750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745552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49199-3EC1-4952-BC9E-C2356E8DF248}" type="datetimeFigureOut">
              <a:rPr lang="en-US" smtClean="0"/>
              <a:pPr/>
              <a:t>8/26/2025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1D5CC-907B-420A-A414-0C9762FD750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0120787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49199-3EC1-4952-BC9E-C2356E8DF248}" type="datetimeFigureOut">
              <a:rPr lang="en-US" smtClean="0"/>
              <a:pPr/>
              <a:t>8/26/2025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1D5CC-907B-420A-A414-0C9762FD750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325626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49199-3EC1-4952-BC9E-C2356E8DF248}" type="datetimeFigureOut">
              <a:rPr lang="en-US" smtClean="0"/>
              <a:pPr/>
              <a:t>8/26/2025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1D5CC-907B-420A-A414-0C9762FD750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33949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49199-3EC1-4952-BC9E-C2356E8DF248}" type="datetimeFigureOut">
              <a:rPr lang="en-US" smtClean="0"/>
              <a:pPr/>
              <a:t>8/26/2025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1D5CC-907B-420A-A414-0C9762FD750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9667545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49199-3EC1-4952-BC9E-C2356E8DF248}" type="datetimeFigureOut">
              <a:rPr lang="en-US" smtClean="0"/>
              <a:pPr/>
              <a:t>8/26/2025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1D5CC-907B-420A-A414-0C9762FD750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8153534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849199-3EC1-4952-BC9E-C2356E8DF248}" type="datetimeFigureOut">
              <a:rPr lang="en-US" smtClean="0"/>
              <a:pPr/>
              <a:t>8/26/2025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D1D5CC-907B-420A-A414-0C9762FD750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4914079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 smtClean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Algorithms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Presented By </a:t>
            </a:r>
          </a:p>
          <a:p>
            <a:r>
              <a:rPr lang="en-US" dirty="0" smtClean="0"/>
              <a:t>Piyush </a:t>
            </a:r>
            <a:r>
              <a:rPr lang="en-US" dirty="0" err="1" smtClean="0"/>
              <a:t>kumar</a:t>
            </a:r>
            <a:r>
              <a:rPr lang="en-US" dirty="0" smtClean="0"/>
              <a:t> </a:t>
            </a:r>
            <a:r>
              <a:rPr lang="en-US" dirty="0" err="1" smtClean="0"/>
              <a:t>Srivastava</a:t>
            </a:r>
            <a:r>
              <a:rPr lang="en-US" dirty="0" smtClean="0"/>
              <a:t>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03898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>
                <a:solidFill>
                  <a:schemeClr val="accent4">
                    <a:lumMod val="75000"/>
                  </a:schemeClr>
                </a:solidFill>
              </a:rPr>
              <a:t>Algorithm: Definition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 algorithm is any well defined computational procedure, that takes some values , or set of values , as input and produces some value or set of values as output.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is an informal description, a blueprint of solution of a computational problem.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is a sequence of computational steps that transforms the input into output.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is specific computational procedure for achieving that input , output relationship.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722926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>
                <a:solidFill>
                  <a:schemeClr val="accent4"/>
                </a:solidFill>
              </a:rPr>
              <a:t>Algorithm: Characteristics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IN" b="1" dirty="0" smtClean="0"/>
              <a:t>Input:- An algorithm must contain 1 or more inputs.</a:t>
            </a:r>
          </a:p>
          <a:p>
            <a:r>
              <a:rPr lang="en-IN" b="1" dirty="0" smtClean="0"/>
              <a:t>Output:- An algorithm must return  at least one or more  values as output.</a:t>
            </a:r>
          </a:p>
          <a:p>
            <a:r>
              <a:rPr lang="en-IN" b="1" dirty="0" smtClean="0"/>
              <a:t>Finiteness:- Any algorithm must stop and complete its execution after a finite number of steps.</a:t>
            </a:r>
          </a:p>
          <a:p>
            <a:r>
              <a:rPr lang="en-IN" b="1" dirty="0" smtClean="0"/>
              <a:t>Definiteness:-  The steps of any algorithm must be defined precisely with clarity. i.e. No ambiguity.</a:t>
            </a:r>
          </a:p>
          <a:p>
            <a:r>
              <a:rPr lang="en-IN" b="1" dirty="0" smtClean="0"/>
              <a:t>Effectiveness:-  The steps of any algorithm must be effective enough to solve a computational problem .  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339760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>
                <a:solidFill>
                  <a:schemeClr val="accent4"/>
                </a:solidFill>
              </a:rPr>
              <a:t>Algorithm </a:t>
            </a:r>
            <a:r>
              <a:rPr lang="en-IN" b="1" dirty="0" err="1" smtClean="0">
                <a:solidFill>
                  <a:schemeClr val="accent4"/>
                </a:solidFill>
              </a:rPr>
              <a:t>vs</a:t>
            </a:r>
            <a:r>
              <a:rPr lang="en-IN" b="1" dirty="0" smtClean="0">
                <a:solidFill>
                  <a:schemeClr val="accent4"/>
                </a:solidFill>
              </a:rPr>
              <a:t> Program 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Algorithm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/>
          </a:bodyPr>
          <a:lstStyle/>
          <a:p>
            <a:r>
              <a:rPr lang="en-IN" b="1" dirty="0" smtClean="0"/>
              <a:t>Simple English like language	, with no predefined syntax.</a:t>
            </a:r>
          </a:p>
          <a:p>
            <a:r>
              <a:rPr lang="en-IN" b="1" dirty="0" smtClean="0"/>
              <a:t>Person writing algorithm must have domain knowledge.</a:t>
            </a:r>
          </a:p>
          <a:p>
            <a:r>
              <a:rPr lang="en-IN" b="1" dirty="0" smtClean="0"/>
              <a:t>Critical usage in Design Phase of SDLC.</a:t>
            </a:r>
          </a:p>
          <a:p>
            <a:r>
              <a:rPr lang="en-IN" b="1" dirty="0" smtClean="0"/>
              <a:t>H/W and OS independent.</a:t>
            </a:r>
          </a:p>
          <a:p>
            <a:r>
              <a:rPr lang="en-IN" b="1" dirty="0" smtClean="0"/>
              <a:t>Analysis is done to ensure its efficiency.</a:t>
            </a:r>
          </a:p>
          <a:p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 smtClean="0"/>
              <a:t>Program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>
            <a:normAutofit lnSpcReduction="10000"/>
          </a:bodyPr>
          <a:lstStyle/>
          <a:p>
            <a:r>
              <a:rPr lang="en-IN" b="1" dirty="0" smtClean="0"/>
              <a:t>Predefined syntax and grammar, compatible to a programming language.</a:t>
            </a:r>
          </a:p>
          <a:p>
            <a:r>
              <a:rPr lang="en-IN" b="1" dirty="0" smtClean="0"/>
              <a:t>Developed and made by programmer</a:t>
            </a:r>
          </a:p>
          <a:p>
            <a:r>
              <a:rPr lang="en-IN" b="1" dirty="0" smtClean="0"/>
              <a:t>Used in Coding phase of SDLC.</a:t>
            </a:r>
          </a:p>
          <a:p>
            <a:r>
              <a:rPr lang="en-IN" b="1" dirty="0" smtClean="0"/>
              <a:t>H/W and OS dependent.</a:t>
            </a:r>
          </a:p>
          <a:p>
            <a:r>
              <a:rPr lang="en-IN" b="1" dirty="0" smtClean="0"/>
              <a:t>Testing is done to check its correctness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1965250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>
                <a:solidFill>
                  <a:schemeClr val="accent4"/>
                </a:solidFill>
              </a:rPr>
              <a:t>Analysis of Algorithms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b="1" dirty="0" smtClean="0"/>
              <a:t>A problem P may have multiple solutions, A1, A2, A3…An.</a:t>
            </a:r>
          </a:p>
          <a:p>
            <a:r>
              <a:rPr lang="en-IN" b="1" dirty="0" smtClean="0"/>
              <a:t>We need to figure out best possible solution among them through comparing them.</a:t>
            </a:r>
          </a:p>
          <a:p>
            <a:r>
              <a:rPr lang="en-IN" b="1" dirty="0" smtClean="0"/>
              <a:t>Analysis of the algorithm is the process of analysing the problem solving capability of algorithm in terms of time and space required.</a:t>
            </a:r>
          </a:p>
          <a:p>
            <a:r>
              <a:rPr lang="en-IN" b="1" dirty="0" smtClean="0"/>
              <a:t>Efficiency of an algorithm is determined by finding its Complexity.</a:t>
            </a:r>
          </a:p>
          <a:p>
            <a:r>
              <a:rPr lang="en-IN" b="1" dirty="0" smtClean="0"/>
              <a:t>Criteria for Efficiency: TIME TAKEN and SPACE CONSUMED.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2942374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>
                <a:solidFill>
                  <a:schemeClr val="accent4"/>
                </a:solidFill>
              </a:rPr>
              <a:t>Complexity of an Algorithm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b="1" dirty="0" smtClean="0"/>
              <a:t>The complexity of an algorithm is the metric to measure the efficiency of an algorithm.</a:t>
            </a:r>
          </a:p>
          <a:p>
            <a:r>
              <a:rPr lang="en-IN" b="1" dirty="0" smtClean="0"/>
              <a:t>It computes the amount of time and space required by an algorithm for an input size n.</a:t>
            </a:r>
          </a:p>
          <a:p>
            <a:r>
              <a:rPr lang="en-IN" b="1" dirty="0" smtClean="0"/>
              <a:t>It is the measure which evaluates the count of operations, as a function of size of input data.</a:t>
            </a:r>
          </a:p>
          <a:p>
            <a:r>
              <a:rPr lang="en-IN" b="1" dirty="0" smtClean="0"/>
              <a:t>Complexity of an algorithm can be classified in to two types	</a:t>
            </a:r>
          </a:p>
          <a:p>
            <a:pPr lvl="1"/>
            <a:r>
              <a:rPr lang="en-IN" b="1" dirty="0" smtClean="0"/>
              <a:t>Time Complexity</a:t>
            </a:r>
          </a:p>
          <a:p>
            <a:pPr lvl="1"/>
            <a:r>
              <a:rPr lang="en-IN" b="1" dirty="0" smtClean="0"/>
              <a:t>Space Complexity	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791961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>
                <a:solidFill>
                  <a:srgbClr val="FF0000"/>
                </a:solidFill>
              </a:rPr>
              <a:t>Space Complexity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 smtClean="0"/>
              <a:t>Space complexity of an algorithm is total space taken by algorithm with respect to the input size  and auxiliary space.</a:t>
            </a:r>
          </a:p>
          <a:p>
            <a:r>
              <a:rPr lang="en-IN" b="1" dirty="0" smtClean="0"/>
              <a:t>Auxiliary space is the temporary space used by the algorithms.</a:t>
            </a:r>
          </a:p>
          <a:p>
            <a:r>
              <a:rPr lang="en-IN" b="1" dirty="0" smtClean="0"/>
              <a:t>Space Complexity= Auxiliary Space + Input Space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1523272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>
                <a:solidFill>
                  <a:srgbClr val="FF0000"/>
                </a:solidFill>
              </a:rPr>
              <a:t>Time Complexity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b="1" dirty="0" smtClean="0"/>
              <a:t>Time complexity corresponds to the amount of time a computational device takes to run an algorithm.</a:t>
            </a:r>
          </a:p>
          <a:p>
            <a:r>
              <a:rPr lang="en-IN" b="1" dirty="0" smtClean="0"/>
              <a:t>To analyse the real time complexity of a program, we need to determine two parameters for every instruction of algorithm:</a:t>
            </a:r>
          </a:p>
          <a:p>
            <a:pPr lvl="1"/>
            <a:r>
              <a:rPr lang="en-IN" b="1" dirty="0" smtClean="0"/>
              <a:t>Amount of Time a single statement will take. </a:t>
            </a:r>
          </a:p>
          <a:p>
            <a:pPr lvl="1"/>
            <a:r>
              <a:rPr lang="en-IN" b="1" dirty="0" smtClean="0"/>
              <a:t>No of times, the instruction will get executed.</a:t>
            </a:r>
          </a:p>
          <a:p>
            <a:pPr lvl="1"/>
            <a:r>
              <a:rPr lang="en-US" altLang="en-US" b="1" dirty="0" smtClean="0"/>
              <a:t>Product of these two, will be the  total time taken by the statement.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881975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>
                <a:solidFill>
                  <a:srgbClr val="FF0000"/>
                </a:solidFill>
              </a:rPr>
              <a:t>Time Complexity (</a:t>
            </a:r>
            <a:r>
              <a:rPr lang="en-IN" b="1" dirty="0" err="1" smtClean="0">
                <a:solidFill>
                  <a:srgbClr val="FF0000"/>
                </a:solidFill>
              </a:rPr>
              <a:t>contd</a:t>
            </a:r>
            <a:r>
              <a:rPr lang="en-IN" b="1" dirty="0" smtClean="0">
                <a:solidFill>
                  <a:srgbClr val="FF0000"/>
                </a:solidFill>
              </a:rPr>
              <a:t>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en-US" b="1" dirty="0" smtClean="0">
                <a:solidFill>
                  <a:schemeClr val="tx2"/>
                </a:solidFill>
              </a:rPr>
              <a:t>First no. depends upon the machine and compiler used , hence the real time complexity is machine dependent.</a:t>
            </a:r>
          </a:p>
          <a:p>
            <a:r>
              <a:rPr lang="en-US" altLang="en-US" b="1" dirty="0" smtClean="0">
                <a:solidFill>
                  <a:schemeClr val="tx2"/>
                </a:solidFill>
              </a:rPr>
              <a:t>A generic  RAM (Random Access Machine) executes set of operations sequentially.</a:t>
            </a:r>
          </a:p>
          <a:p>
            <a:pPr>
              <a:buSzPct val="100000"/>
              <a:buFontTx/>
              <a:buChar char="•"/>
            </a:pPr>
            <a:r>
              <a:rPr lang="en-US" altLang="en-US" b="1" dirty="0" smtClean="0">
                <a:solidFill>
                  <a:schemeClr val="tx2"/>
                </a:solidFill>
              </a:rPr>
              <a:t>Set of primitive operations: Arithmetic. Logical, Comparisons, Function calls</a:t>
            </a:r>
          </a:p>
          <a:p>
            <a:pPr>
              <a:buSzPct val="100000"/>
              <a:buFontTx/>
              <a:buChar char="•"/>
            </a:pPr>
            <a:r>
              <a:rPr lang="en-US" altLang="en-US" b="1" dirty="0" smtClean="0">
                <a:solidFill>
                  <a:schemeClr val="tx2"/>
                </a:solidFill>
              </a:rPr>
              <a:t>Exact amount of execution time of single instruction will be machine dependent.</a:t>
            </a:r>
          </a:p>
          <a:p>
            <a:pPr>
              <a:buSzPct val="100000"/>
              <a:buFontTx/>
              <a:buChar char="•"/>
            </a:pPr>
            <a:r>
              <a:rPr lang="en-US" altLang="en-US" b="1" dirty="0" smtClean="0">
                <a:solidFill>
                  <a:schemeClr val="tx2"/>
                </a:solidFill>
              </a:rPr>
              <a:t>Hence to simplify matter, all operations cost is assumed to be 1.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640952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>
                <a:solidFill>
                  <a:srgbClr val="FF0000"/>
                </a:solidFill>
              </a:rPr>
              <a:t>Frequency Count Method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IN" sz="2800" b="1" dirty="0" smtClean="0"/>
              <a:t>To make analysis machine independent, it is assumed that every instruction takes SAME CONSTANT AMOUNT OF TIME  for its execution.</a:t>
            </a: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IN" sz="2800" b="1" dirty="0" smtClean="0"/>
              <a:t>Hence the determination of time complexity of a program is matter of summing the frequency counts of all instructions.</a:t>
            </a: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IN" sz="2800" b="1" dirty="0" smtClean="0"/>
              <a:t>Total Time =  ∑(N)*C		(for all instructions)</a:t>
            </a:r>
          </a:p>
          <a:p>
            <a:pPr lvl="1" algn="just">
              <a:spcBef>
                <a:spcPts val="0"/>
              </a:spcBef>
              <a:spcAft>
                <a:spcPts val="0"/>
              </a:spcAft>
            </a:pPr>
            <a:r>
              <a:rPr lang="en-IN" sz="2400" b="1" dirty="0" smtClean="0"/>
              <a:t>Where N is no of times an instruction is executed.</a:t>
            </a:r>
          </a:p>
          <a:p>
            <a:pPr lvl="1" algn="just">
              <a:spcBef>
                <a:spcPts val="0"/>
              </a:spcBef>
              <a:spcAft>
                <a:spcPts val="0"/>
              </a:spcAft>
            </a:pPr>
            <a:r>
              <a:rPr lang="en-IN" sz="2400" b="1" dirty="0" smtClean="0"/>
              <a:t>C is constant amount of time, every instruction is assumed to be taking for execution.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996136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>
                <a:solidFill>
                  <a:srgbClr val="FF0000"/>
                </a:solidFill>
              </a:rPr>
              <a:t>Asymptotic Analysis of Algorithms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b="1" dirty="0" smtClean="0"/>
              <a:t>Asymptotic is a line  is that approaches a curve, but never touches it.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b="1" dirty="0" smtClean="0"/>
              <a:t>A curve and a line that get closer but never intersect are Asymptotic to each other.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b="1" dirty="0" smtClean="0"/>
              <a:t>In Asymptotic analysis, performance of an algorithm is evaluated in terms of input size. i.e. how does time (or space)  taken by an algorithm increases when input size is increased EXPONENTIALLY.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6257904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 smtClean="0"/>
              <a:t>Analysis of Algorithms: Growth Rate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b="1" dirty="0" smtClean="0">
                <a:solidFill>
                  <a:srgbClr val="FF0000"/>
                </a:solidFill>
              </a:rPr>
              <a:t>Average time complexity </a:t>
            </a:r>
            <a:r>
              <a:rPr lang="en-IN" dirty="0" smtClean="0"/>
              <a:t>is the function defined by numbers of steps between max &amp; min  no of steps taken on input size n.</a:t>
            </a:r>
          </a:p>
          <a:p>
            <a:r>
              <a:rPr lang="en-IN" dirty="0" smtClean="0"/>
              <a:t>The constant time is faster than any function which is dependent on n.</a:t>
            </a:r>
          </a:p>
          <a:p>
            <a:r>
              <a:rPr lang="en-IN" dirty="0" smtClean="0"/>
              <a:t>Growth Rate: It is the rate at which running time of an algorithm grows when input size grows. The </a:t>
            </a:r>
            <a:r>
              <a:rPr lang="en-IN" b="1" dirty="0" smtClean="0"/>
              <a:t>LEADING TERM (DEGREE)</a:t>
            </a:r>
            <a:r>
              <a:rPr lang="en-IN" dirty="0" smtClean="0"/>
              <a:t> defines the order of growth.  </a:t>
            </a:r>
            <a:r>
              <a:rPr lang="en-IN" dirty="0" err="1" smtClean="0"/>
              <a:t>e.g</a:t>
            </a:r>
            <a:r>
              <a:rPr lang="en-IN" dirty="0" smtClean="0"/>
              <a:t> T(n)= 5n2+3n+5, The order of growth is n2.</a:t>
            </a:r>
            <a:endParaRPr lang="en-IN" b="1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753118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 smtClean="0"/>
              <a:t>Analysis of Algorithms: Growth Rate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T(n)= O(1)			CONSTANT TIME</a:t>
            </a:r>
          </a:p>
          <a:p>
            <a:r>
              <a:rPr lang="en-IN" dirty="0" smtClean="0"/>
              <a:t>T(n)=  O(log n)		Logarithmic Function</a:t>
            </a:r>
          </a:p>
          <a:p>
            <a:r>
              <a:rPr lang="en-IN" dirty="0" smtClean="0"/>
              <a:t>T(n) = Axn+Bxn-1+Cxn-2+…….K	Polynomial Function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5861993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 smtClean="0"/>
              <a:t>Analysis of Algorithms: Asymptotic Notations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 smtClean="0"/>
              <a:t>Efficiency of algorithms are analysed using asymptotic notations in three says:</a:t>
            </a:r>
          </a:p>
          <a:p>
            <a:pPr lvl="1"/>
            <a:r>
              <a:rPr lang="en-IN" b="1" smtClean="0"/>
              <a:t>Big oh </a:t>
            </a:r>
            <a:r>
              <a:rPr lang="en-IN" b="1" dirty="0" smtClean="0"/>
              <a:t>Notation O(f(n)), which corresponds to worst case of an algorithm.</a:t>
            </a:r>
          </a:p>
          <a:p>
            <a:pPr lvl="1"/>
            <a:r>
              <a:rPr lang="en-IN" b="1" dirty="0" smtClean="0"/>
              <a:t>Big Omega Notation </a:t>
            </a:r>
            <a:r>
              <a:rPr lang="el-GR" b="1" dirty="0" smtClean="0"/>
              <a:t>Ω</a:t>
            </a:r>
            <a:r>
              <a:rPr lang="en-IN" b="1" dirty="0" smtClean="0"/>
              <a:t>(f(n)), which corresponds to best case of an algorithm.</a:t>
            </a:r>
          </a:p>
          <a:p>
            <a:pPr lvl="1"/>
            <a:r>
              <a:rPr lang="en-IN" b="1" dirty="0" smtClean="0"/>
              <a:t>Theta Notation </a:t>
            </a:r>
            <a:r>
              <a:rPr lang="en-US" b="1" dirty="0" smtClean="0"/>
              <a:t>Ɵ</a:t>
            </a:r>
            <a:r>
              <a:rPr lang="en-IN" b="1" dirty="0" smtClean="0"/>
              <a:t>(f(n)), which corresponds to average case of an algorithm.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1984220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 smtClean="0"/>
              <a:t>Analysis of Algorithms: Asymptotic Notations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81025" y="2505869"/>
            <a:ext cx="7981950" cy="2714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1709261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 smtClean="0">
                <a:solidFill>
                  <a:srgbClr val="FF0000"/>
                </a:solidFill>
              </a:rPr>
              <a:t>Asymptotic Notations: Big O Notations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652712" y="1934369"/>
            <a:ext cx="3838575" cy="3857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8933955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 smtClean="0">
                <a:solidFill>
                  <a:srgbClr val="FF0000"/>
                </a:solidFill>
              </a:rPr>
              <a:t>Asymptotic Notations: Big O Notation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1" dirty="0" smtClean="0"/>
              <a:t>It defines the upper bound of an algorithm. </a:t>
            </a:r>
          </a:p>
          <a:p>
            <a:pPr marL="0" indent="0">
              <a:buNone/>
            </a:pPr>
            <a:r>
              <a:rPr lang="en-IN" b="1" dirty="0" smtClean="0"/>
              <a:t>		O(g(n)) ={f(n): there exists positive constant c and n</a:t>
            </a:r>
            <a:r>
              <a:rPr lang="en-IN" sz="2400" b="1" spc="-300" dirty="0" smtClean="0"/>
              <a:t>o</a:t>
            </a:r>
            <a:r>
              <a:rPr lang="en-IN" b="1" dirty="0" smtClean="0"/>
              <a:t>  such that</a:t>
            </a:r>
          </a:p>
          <a:p>
            <a:pPr marL="0" indent="0">
              <a:buNone/>
            </a:pPr>
            <a:r>
              <a:rPr lang="en-IN" b="1" dirty="0" smtClean="0"/>
              <a:t>	</a:t>
            </a:r>
            <a:r>
              <a:rPr lang="en-IN" sz="4000" b="1" dirty="0" smtClean="0"/>
              <a:t>f(n)&lt;= c(g(n))  </a:t>
            </a:r>
            <a:r>
              <a:rPr lang="en-IN" b="1" dirty="0" smtClean="0"/>
              <a:t>where c&gt;0, n</a:t>
            </a:r>
            <a:r>
              <a:rPr lang="en-IN" sz="2400" b="1" spc="-300" dirty="0" smtClean="0"/>
              <a:t>o</a:t>
            </a:r>
            <a:r>
              <a:rPr lang="en-IN" b="1" dirty="0" smtClean="0"/>
              <a:t> &gt;=1}</a:t>
            </a:r>
          </a:p>
          <a:p>
            <a:pPr marL="0" indent="0">
              <a:buNone/>
            </a:pPr>
            <a:r>
              <a:rPr lang="en-IN" b="1" dirty="0" smtClean="0"/>
              <a:t>Then </a:t>
            </a:r>
            <a:r>
              <a:rPr lang="en-IN" sz="4000" b="1" dirty="0" smtClean="0">
                <a:solidFill>
                  <a:srgbClr val="FF0000"/>
                </a:solidFill>
              </a:rPr>
              <a:t> f(n) =O(g(n))  {f is upper bounded by g}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5797991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 smtClean="0">
                <a:solidFill>
                  <a:srgbClr val="FF0000"/>
                </a:solidFill>
              </a:rPr>
              <a:t>Asymptotic Notations: Big O Notation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b="1" dirty="0" smtClean="0"/>
              <a:t>Big Oh denotes worst case for a function f(n).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b="1" dirty="0" smtClean="0"/>
              <a:t>O(g(n) bounds a function in such way, that after n=n</a:t>
            </a:r>
            <a:r>
              <a:rPr lang="en-IN" sz="1800" b="1" dirty="0" smtClean="0"/>
              <a:t>0 , </a:t>
            </a:r>
            <a:r>
              <a:rPr lang="en-IN" b="1" dirty="0" smtClean="0"/>
              <a:t>the worst case value never crosses g(n). </a:t>
            </a:r>
            <a:r>
              <a:rPr lang="en-IN" b="1" dirty="0" err="1" smtClean="0"/>
              <a:t>i.e</a:t>
            </a:r>
            <a:r>
              <a:rPr lang="en-IN" b="1" dirty="0" smtClean="0"/>
              <a:t> the value of c(g(n)) is always greater than f(n).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b="1" dirty="0" smtClean="0"/>
              <a:t>e.g. f(n)= 3n+2, g(n)=n; then we can say, 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b="1" dirty="0" smtClean="0"/>
              <a:t>f(n)= O(g(n))-&gt; f(n)&lt;=cg(n)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b="1" dirty="0" smtClean="0"/>
              <a:t>3n+2&lt;=</a:t>
            </a:r>
            <a:r>
              <a:rPr lang="en-IN" b="1" dirty="0" err="1" smtClean="0"/>
              <a:t>cn</a:t>
            </a:r>
            <a:r>
              <a:rPr lang="en-IN" b="1" dirty="0" smtClean="0"/>
              <a:t> -&gt; This condition holds true for c=4 and n&gt;=2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9184178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 smtClean="0">
                <a:solidFill>
                  <a:srgbClr val="FF0000"/>
                </a:solidFill>
              </a:rPr>
              <a:t>Asymptotic Notations: Big </a:t>
            </a:r>
            <a:r>
              <a:rPr lang="el-GR" b="1" dirty="0" smtClean="0">
                <a:solidFill>
                  <a:srgbClr val="FF0000"/>
                </a:solidFill>
              </a:rPr>
              <a:t>Ω</a:t>
            </a:r>
            <a:r>
              <a:rPr lang="en-IN" b="1" dirty="0" smtClean="0">
                <a:solidFill>
                  <a:srgbClr val="FF0000"/>
                </a:solidFill>
              </a:rPr>
              <a:t> Notation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1" dirty="0" smtClean="0"/>
              <a:t>It defines the lower bound of an algorithm. </a:t>
            </a:r>
          </a:p>
          <a:p>
            <a:pPr marL="0" indent="0">
              <a:buNone/>
            </a:pPr>
            <a:r>
              <a:rPr lang="en-IN" b="1" dirty="0" smtClean="0"/>
              <a:t>		</a:t>
            </a:r>
            <a:r>
              <a:rPr lang="el-GR" b="1" dirty="0" smtClean="0">
                <a:solidFill>
                  <a:schemeClr val="tx1"/>
                </a:solidFill>
              </a:rPr>
              <a:t> Ω</a:t>
            </a:r>
            <a:r>
              <a:rPr lang="en-IN" b="1" dirty="0" smtClean="0"/>
              <a:t>(g(n)) ={f(n): there exists positive constant c and n</a:t>
            </a:r>
            <a:r>
              <a:rPr lang="en-IN" sz="2400" b="1" spc="-300" dirty="0" smtClean="0"/>
              <a:t>o</a:t>
            </a:r>
            <a:r>
              <a:rPr lang="en-IN" b="1" dirty="0" smtClean="0"/>
              <a:t>  such that</a:t>
            </a:r>
          </a:p>
          <a:p>
            <a:pPr marL="0" indent="0">
              <a:buNone/>
            </a:pPr>
            <a:r>
              <a:rPr lang="en-IN" sz="4000" b="1" dirty="0" smtClean="0"/>
              <a:t>f(n)&gt;= c(g(n))  </a:t>
            </a:r>
            <a:r>
              <a:rPr lang="en-IN" b="1" dirty="0" smtClean="0"/>
              <a:t>where c&gt;0, n</a:t>
            </a:r>
            <a:r>
              <a:rPr lang="en-IN" sz="2400" b="1" spc="-300" dirty="0" smtClean="0"/>
              <a:t>o</a:t>
            </a:r>
            <a:r>
              <a:rPr lang="en-IN" b="1" dirty="0" smtClean="0"/>
              <a:t> &gt;=1}</a:t>
            </a:r>
          </a:p>
          <a:p>
            <a:pPr marL="0" indent="0">
              <a:buNone/>
            </a:pPr>
            <a:r>
              <a:rPr lang="en-IN" b="1" dirty="0" smtClean="0"/>
              <a:t>Then </a:t>
            </a:r>
            <a:r>
              <a:rPr lang="en-IN" sz="4000" b="1" dirty="0" smtClean="0">
                <a:solidFill>
                  <a:srgbClr val="FF0000"/>
                </a:solidFill>
              </a:rPr>
              <a:t>f(n) =</a:t>
            </a:r>
            <a:r>
              <a:rPr lang="el-GR" sz="4000" b="1" dirty="0" smtClean="0">
                <a:solidFill>
                  <a:srgbClr val="FF0000"/>
                </a:solidFill>
              </a:rPr>
              <a:t> Ω</a:t>
            </a:r>
            <a:r>
              <a:rPr lang="en-IN" sz="4000" b="1" dirty="0" smtClean="0">
                <a:solidFill>
                  <a:srgbClr val="FF0000"/>
                </a:solidFill>
              </a:rPr>
              <a:t>(g(n))  {f is lower bounded by g}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1611864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 smtClean="0">
                <a:solidFill>
                  <a:srgbClr val="FF0000"/>
                </a:solidFill>
              </a:rPr>
              <a:t>Asymptotic Notations: Big </a:t>
            </a:r>
            <a:r>
              <a:rPr lang="el-GR" b="1" dirty="0" smtClean="0">
                <a:solidFill>
                  <a:srgbClr val="FF0000"/>
                </a:solidFill>
              </a:rPr>
              <a:t>Ω</a:t>
            </a:r>
            <a:r>
              <a:rPr lang="en-IN" b="1" dirty="0" smtClean="0">
                <a:solidFill>
                  <a:srgbClr val="FF0000"/>
                </a:solidFill>
              </a:rPr>
              <a:t> Notation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b="1" dirty="0" smtClean="0"/>
              <a:t>Big Omega denotes best case for a function f(n).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l-GR" b="1" dirty="0" smtClean="0">
                <a:solidFill>
                  <a:srgbClr val="FF0000"/>
                </a:solidFill>
              </a:rPr>
              <a:t>Ω</a:t>
            </a:r>
            <a:r>
              <a:rPr lang="en-IN" b="1" dirty="0" smtClean="0"/>
              <a:t>(g(n) bounds a function in such way, that after n=n</a:t>
            </a:r>
            <a:r>
              <a:rPr lang="en-IN" sz="1800" b="1" dirty="0" smtClean="0"/>
              <a:t>0 , </a:t>
            </a:r>
            <a:r>
              <a:rPr lang="en-IN" b="1" dirty="0" smtClean="0"/>
              <a:t>the  best case value never crosses g(n). </a:t>
            </a:r>
            <a:r>
              <a:rPr lang="en-IN" b="1" dirty="0" err="1" smtClean="0"/>
              <a:t>i.e</a:t>
            </a:r>
            <a:r>
              <a:rPr lang="en-IN" b="1" dirty="0" smtClean="0"/>
              <a:t> the value of c(g(n)) is always lesser than f(n).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b="1" dirty="0" smtClean="0"/>
              <a:t>	e.g. f(n)= 3n+2, g(n)=n; then we can say, 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b="1" dirty="0" smtClean="0"/>
              <a:t>	f(n)= </a:t>
            </a:r>
            <a:r>
              <a:rPr lang="el-GR" b="1" dirty="0" smtClean="0">
                <a:solidFill>
                  <a:srgbClr val="FF0000"/>
                </a:solidFill>
              </a:rPr>
              <a:t>Ω</a:t>
            </a:r>
            <a:r>
              <a:rPr lang="en-IN" b="1" dirty="0" smtClean="0"/>
              <a:t>(g(n)) -&gt; f(n)&gt;=cg(n)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b="1" dirty="0" smtClean="0"/>
              <a:t>	3n+2&gt;=</a:t>
            </a:r>
            <a:r>
              <a:rPr lang="en-IN" b="1" dirty="0" err="1" smtClean="0"/>
              <a:t>cn</a:t>
            </a:r>
            <a:r>
              <a:rPr lang="en-IN" b="1" dirty="0" smtClean="0"/>
              <a:t> -&gt; This condition holds true for c=1 and n&gt;=1</a:t>
            </a:r>
            <a:endParaRPr lang="en-IN" dirty="0" smtClean="0">
              <a:solidFill>
                <a:schemeClr val="tx1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19721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 smtClean="0">
                <a:solidFill>
                  <a:srgbClr val="FF0000"/>
                </a:solidFill>
              </a:rPr>
              <a:t>Asymptotic Notations: Big </a:t>
            </a:r>
            <a:r>
              <a:rPr lang="en-US" b="1" dirty="0">
                <a:solidFill>
                  <a:srgbClr val="FF0000"/>
                </a:solidFill>
              </a:rPr>
              <a:t>Ɵ</a:t>
            </a:r>
            <a:r>
              <a:rPr lang="en-IN" b="1" dirty="0" smtClean="0">
                <a:solidFill>
                  <a:srgbClr val="FF0000"/>
                </a:solidFill>
              </a:rPr>
              <a:t> Notation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543175" y="1762919"/>
            <a:ext cx="4057650" cy="4200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3667981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 smtClean="0">
                <a:solidFill>
                  <a:srgbClr val="FF0000"/>
                </a:solidFill>
              </a:rPr>
              <a:t>Asymptotic Notations: Big (Theta) </a:t>
            </a:r>
            <a:r>
              <a:rPr lang="en-US" b="1" dirty="0">
                <a:solidFill>
                  <a:srgbClr val="FF0000"/>
                </a:solidFill>
              </a:rPr>
              <a:t>Ɵ</a:t>
            </a:r>
            <a:r>
              <a:rPr lang="en-IN" b="1" dirty="0" smtClean="0">
                <a:solidFill>
                  <a:srgbClr val="FF0000"/>
                </a:solidFill>
              </a:rPr>
              <a:t> Notation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b="1" dirty="0" smtClean="0"/>
              <a:t>Big Theta bounds a function from above and below, </a:t>
            </a:r>
            <a:r>
              <a:rPr lang="en-IN" b="1" dirty="0" err="1" smtClean="0"/>
              <a:t>i.e</a:t>
            </a:r>
            <a:r>
              <a:rPr lang="en-IN" b="1" dirty="0" smtClean="0"/>
              <a:t> between upper and lower bound</a:t>
            </a:r>
          </a:p>
          <a:p>
            <a:pPr marL="0" indent="0">
              <a:buNone/>
            </a:pPr>
            <a:r>
              <a:rPr lang="en-IN" b="1" dirty="0" smtClean="0"/>
              <a:t>		</a:t>
            </a:r>
            <a:r>
              <a:rPr lang="el-GR" b="1" dirty="0" smtClean="0">
                <a:solidFill>
                  <a:schemeClr val="tx1"/>
                </a:solidFill>
              </a:rPr>
              <a:t> </a:t>
            </a:r>
            <a:r>
              <a:rPr lang="en-US" b="1" dirty="0"/>
              <a:t>Ɵ</a:t>
            </a:r>
            <a:r>
              <a:rPr lang="en-IN" b="1" dirty="0" smtClean="0"/>
              <a:t>(g(n)) ={f(n): there exists positive constant c1, c2 and n</a:t>
            </a:r>
            <a:r>
              <a:rPr lang="en-IN" sz="2400" b="1" spc="-300" dirty="0" smtClean="0"/>
              <a:t>o</a:t>
            </a:r>
            <a:r>
              <a:rPr lang="en-IN" b="1" dirty="0" smtClean="0"/>
              <a:t>  such that</a:t>
            </a:r>
          </a:p>
          <a:p>
            <a:pPr marL="0" indent="0">
              <a:buNone/>
            </a:pPr>
            <a:r>
              <a:rPr lang="en-IN" b="1" dirty="0" smtClean="0"/>
              <a:t>	</a:t>
            </a:r>
            <a:r>
              <a:rPr lang="en-IN" sz="3600" b="1" dirty="0" smtClean="0">
                <a:solidFill>
                  <a:schemeClr val="tx1"/>
                </a:solidFill>
              </a:rPr>
              <a:t>c1g(n)&lt;=f(n)&lt;= c2(g(n))</a:t>
            </a:r>
          </a:p>
          <a:p>
            <a:pPr marL="0" indent="0">
              <a:buNone/>
            </a:pPr>
            <a:r>
              <a:rPr lang="en-IN" b="1" dirty="0" smtClean="0"/>
              <a:t>	where c1, c2&gt;0, n</a:t>
            </a:r>
            <a:r>
              <a:rPr lang="en-IN" sz="2000" b="1" spc="-300" dirty="0" smtClean="0"/>
              <a:t>o</a:t>
            </a:r>
            <a:r>
              <a:rPr lang="en-IN" b="1" dirty="0" smtClean="0"/>
              <a:t>  and n</a:t>
            </a:r>
            <a:r>
              <a:rPr lang="en-IN" sz="2000" b="1" spc="-300" dirty="0" smtClean="0"/>
              <a:t>o</a:t>
            </a:r>
            <a:r>
              <a:rPr lang="en-IN" b="1" dirty="0" smtClean="0"/>
              <a:t> &gt;=1}</a:t>
            </a:r>
          </a:p>
          <a:p>
            <a:pPr marL="0" indent="0">
              <a:buNone/>
            </a:pPr>
            <a:r>
              <a:rPr lang="en-IN" b="1" dirty="0" smtClean="0"/>
              <a:t>Then </a:t>
            </a:r>
            <a:r>
              <a:rPr lang="en-IN" sz="3600" b="1" dirty="0" smtClean="0">
                <a:solidFill>
                  <a:srgbClr val="FF0000"/>
                </a:solidFill>
              </a:rPr>
              <a:t>f(n) =</a:t>
            </a:r>
            <a:r>
              <a:rPr lang="el-GR" sz="3600" b="1" dirty="0" smtClean="0">
                <a:solidFill>
                  <a:srgbClr val="FF0000"/>
                </a:solidFill>
              </a:rPr>
              <a:t> </a:t>
            </a:r>
            <a:r>
              <a:rPr lang="en-US" sz="3600" b="1" dirty="0">
                <a:solidFill>
                  <a:srgbClr val="FF0000"/>
                </a:solidFill>
              </a:rPr>
              <a:t>Ɵ</a:t>
            </a:r>
            <a:r>
              <a:rPr lang="en-IN" sz="3600" b="1" dirty="0" smtClean="0">
                <a:solidFill>
                  <a:srgbClr val="FF0000"/>
                </a:solidFill>
              </a:rPr>
              <a:t>(g(n))  {f is lower and upper  bounded by g}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8743875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 smtClean="0">
                <a:solidFill>
                  <a:srgbClr val="FF0000"/>
                </a:solidFill>
              </a:rPr>
              <a:t>Asymptotic Notations: Big (Theta) </a:t>
            </a:r>
            <a:r>
              <a:rPr lang="en-US" b="1" dirty="0">
                <a:solidFill>
                  <a:srgbClr val="FF0000"/>
                </a:solidFill>
              </a:rPr>
              <a:t>Ɵ</a:t>
            </a:r>
            <a:r>
              <a:rPr lang="en-IN" b="1" dirty="0" smtClean="0">
                <a:solidFill>
                  <a:srgbClr val="FF0000"/>
                </a:solidFill>
              </a:rPr>
              <a:t> Notation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b="1" dirty="0" smtClean="0"/>
              <a:t>Big Theta denotes AVERAGE case for a function f(n).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1" dirty="0"/>
              <a:t>Ɵ</a:t>
            </a:r>
            <a:r>
              <a:rPr lang="en-IN" b="1" dirty="0" smtClean="0"/>
              <a:t>(g(n) bounds a function in such way, that after n=n</a:t>
            </a:r>
            <a:r>
              <a:rPr lang="en-IN" sz="1800" b="1" dirty="0" smtClean="0"/>
              <a:t>0 , </a:t>
            </a:r>
            <a:r>
              <a:rPr lang="en-IN" b="1" dirty="0" smtClean="0"/>
              <a:t>the  average case value always lies in between  c1g(n) and c2g(n).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IN" b="1" dirty="0" smtClean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b="1" dirty="0" smtClean="0"/>
              <a:t>e.g. f(n)= 3n+2, g(n)=n; then we can say, 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b="1" dirty="0" smtClean="0"/>
              <a:t>	f(n)= </a:t>
            </a:r>
            <a:r>
              <a:rPr lang="en-US" b="1" dirty="0"/>
              <a:t>Ɵ</a:t>
            </a:r>
            <a:r>
              <a:rPr lang="en-IN" b="1" dirty="0" smtClean="0"/>
              <a:t>(g(n))  -&gt;   c1g(n)&lt;=f(n)&lt;=c2g(n)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b="1" dirty="0" smtClean="0"/>
              <a:t>c1n&lt;=3n+2&lt;=</a:t>
            </a:r>
            <a:r>
              <a:rPr lang="en-IN" b="1" dirty="0" err="1" smtClean="0"/>
              <a:t>cn</a:t>
            </a:r>
            <a:r>
              <a:rPr lang="en-IN" b="1" dirty="0" smtClean="0"/>
              <a:t> -&gt; This condition holds true for c1=1 , c2=1and n0=2</a:t>
            </a:r>
            <a:endParaRPr lang="en-IN" dirty="0" smtClean="0">
              <a:solidFill>
                <a:schemeClr val="tx1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63628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>
                <a:solidFill>
                  <a:srgbClr val="FF0000"/>
                </a:solidFill>
              </a:rPr>
              <a:t>Examples :  Constant &amp; </a:t>
            </a:r>
            <a:r>
              <a:rPr lang="en-US" altLang="en-US" b="1" dirty="0" smtClean="0">
                <a:solidFill>
                  <a:srgbClr val="FF0000"/>
                </a:solidFill>
              </a:rPr>
              <a:t>Linear loop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533400" indent="-533400">
              <a:buFontTx/>
              <a:buAutoNum type="arabicPlain"/>
            </a:pPr>
            <a:r>
              <a:rPr lang="en-US" altLang="en-US" b="1" dirty="0"/>
              <a:t>i=1</a:t>
            </a:r>
          </a:p>
          <a:p>
            <a:pPr marL="533400" indent="-533400">
              <a:buFontTx/>
              <a:buAutoNum type="arabicPlain"/>
            </a:pPr>
            <a:r>
              <a:rPr lang="en-US" altLang="en-US" b="1" dirty="0"/>
              <a:t>Loop(I &lt;= 1000)</a:t>
            </a:r>
          </a:p>
          <a:p>
            <a:pPr marL="914400" lvl="1" indent="-457200">
              <a:buFontTx/>
              <a:buNone/>
            </a:pPr>
            <a:r>
              <a:rPr lang="en-US" altLang="en-US" b="1" dirty="0"/>
              <a:t>	1	application code</a:t>
            </a:r>
          </a:p>
          <a:p>
            <a:pPr marL="914400" lvl="1" indent="-457200">
              <a:buFontTx/>
              <a:buNone/>
            </a:pPr>
            <a:r>
              <a:rPr lang="en-US" altLang="en-US" b="1" dirty="0"/>
              <a:t>	2	I = I   +  1</a:t>
            </a:r>
          </a:p>
          <a:p>
            <a:pPr marL="914400" lvl="1" indent="-457200">
              <a:buFontTx/>
              <a:buNone/>
            </a:pPr>
            <a:r>
              <a:rPr lang="en-US" altLang="en-US" b="1" dirty="0">
                <a:solidFill>
                  <a:srgbClr val="FC0128"/>
                </a:solidFill>
              </a:rPr>
              <a:t>The body of the loop is repeated 1000 times.</a:t>
            </a:r>
          </a:p>
          <a:p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914400" lvl="1" indent="-457200">
              <a:buFontTx/>
              <a:buAutoNum type="arabicPlain"/>
            </a:pPr>
            <a:r>
              <a:rPr lang="en-US" altLang="en-US" sz="2800" b="1" dirty="0" smtClean="0">
                <a:solidFill>
                  <a:schemeClr val="tx1"/>
                </a:solidFill>
              </a:rPr>
              <a:t>I = 1</a:t>
            </a:r>
          </a:p>
          <a:p>
            <a:pPr marL="914400" lvl="1" indent="-457200">
              <a:buFontTx/>
              <a:buAutoNum type="arabicPlain"/>
            </a:pPr>
            <a:r>
              <a:rPr lang="en-US" altLang="en-US" sz="2800" b="1" dirty="0" smtClean="0">
                <a:solidFill>
                  <a:schemeClr val="tx1"/>
                </a:solidFill>
              </a:rPr>
              <a:t>Loop (I &lt;= n)</a:t>
            </a:r>
          </a:p>
          <a:p>
            <a:pPr marL="1371600" lvl="2" indent="-457200">
              <a:buFontTx/>
              <a:buAutoNum type="arabicPlain"/>
            </a:pPr>
            <a:r>
              <a:rPr lang="en-US" altLang="en-US" sz="2800" b="1" dirty="0" smtClean="0">
                <a:solidFill>
                  <a:srgbClr val="063DE8"/>
                </a:solidFill>
              </a:rPr>
              <a:t>Application code</a:t>
            </a:r>
          </a:p>
          <a:p>
            <a:pPr marL="1371600" lvl="2" indent="-457200">
              <a:buFontTx/>
              <a:buAutoNum type="arabicPlain"/>
            </a:pPr>
            <a:r>
              <a:rPr lang="en-US" altLang="en-US" sz="2800" b="1" dirty="0" smtClean="0">
                <a:solidFill>
                  <a:srgbClr val="063DE8"/>
                </a:solidFill>
              </a:rPr>
              <a:t>I = I + 2</a:t>
            </a:r>
          </a:p>
          <a:p>
            <a:pPr marL="914400" lvl="2" indent="0">
              <a:buNone/>
            </a:pPr>
            <a:r>
              <a:rPr lang="en-US" altLang="en-US" sz="2800" b="1" dirty="0" smtClean="0">
                <a:solidFill>
                  <a:srgbClr val="FC0128"/>
                </a:solidFill>
              </a:rPr>
              <a:t>For this the code time is proportional to  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826938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>
                <a:solidFill>
                  <a:srgbClr val="FF0000"/>
                </a:solidFill>
              </a:rPr>
              <a:t>Examples : </a:t>
            </a:r>
            <a:r>
              <a:rPr lang="en-US" altLang="en-US" b="1" dirty="0" smtClean="0">
                <a:solidFill>
                  <a:srgbClr val="FF0000"/>
                </a:solidFill>
              </a:rPr>
              <a:t>Square  loop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800" b="1" dirty="0" err="1" smtClean="0"/>
              <a:t>MatrixAdd</a:t>
            </a:r>
            <a:r>
              <a:rPr lang="en-IN" sz="2800" b="1" dirty="0" smtClean="0"/>
              <a:t>(</a:t>
            </a:r>
            <a:r>
              <a:rPr lang="en-IN" sz="2800" b="1" dirty="0" err="1" smtClean="0"/>
              <a:t>A,B,n</a:t>
            </a:r>
            <a:r>
              <a:rPr lang="en-IN" sz="2800" b="1" dirty="0" smtClean="0"/>
              <a:t>)   </a:t>
            </a:r>
          </a:p>
          <a:p>
            <a:r>
              <a:rPr lang="en-IN" sz="2800" b="1" dirty="0" smtClean="0"/>
              <a:t>{    for(i=0;i&lt;</a:t>
            </a:r>
            <a:r>
              <a:rPr lang="en-IN" sz="2800" b="1" dirty="0" err="1" smtClean="0"/>
              <a:t>n;i</a:t>
            </a:r>
            <a:r>
              <a:rPr lang="en-IN" sz="2800" b="1" dirty="0" smtClean="0"/>
              <a:t>++) \\ n+1</a:t>
            </a:r>
          </a:p>
          <a:p>
            <a:pPr marL="457200" lvl="1" indent="0">
              <a:buNone/>
            </a:pPr>
            <a:r>
              <a:rPr lang="en-IN" b="1" dirty="0"/>
              <a:t>    	for(j=0; j&lt;</a:t>
            </a:r>
            <a:r>
              <a:rPr lang="en-IN" b="1" dirty="0" err="1"/>
              <a:t>n;j</a:t>
            </a:r>
            <a:r>
              <a:rPr lang="en-IN" b="1" dirty="0"/>
              <a:t>++)		\\n*(n+1)</a:t>
            </a:r>
          </a:p>
          <a:p>
            <a:pPr marL="1371600" lvl="3" indent="0">
              <a:buNone/>
            </a:pPr>
            <a:r>
              <a:rPr lang="en-IN" sz="2800" b="1" dirty="0" smtClean="0"/>
              <a:t>C[</a:t>
            </a:r>
            <a:r>
              <a:rPr lang="en-IN" sz="2800" b="1" dirty="0" err="1" smtClean="0"/>
              <a:t>i,j</a:t>
            </a:r>
            <a:r>
              <a:rPr lang="en-IN" sz="2800" b="1" dirty="0" smtClean="0"/>
              <a:t>]=A[</a:t>
            </a:r>
            <a:r>
              <a:rPr lang="en-IN" sz="2800" b="1" dirty="0" err="1" smtClean="0"/>
              <a:t>i,j</a:t>
            </a:r>
            <a:r>
              <a:rPr lang="en-IN" sz="2800" b="1" dirty="0" smtClean="0"/>
              <a:t>]+B[</a:t>
            </a:r>
            <a:r>
              <a:rPr lang="en-IN" sz="2800" b="1" dirty="0" err="1" smtClean="0"/>
              <a:t>i,j</a:t>
            </a:r>
            <a:r>
              <a:rPr lang="en-IN" sz="2800" b="1" dirty="0" smtClean="0"/>
              <a:t>];	\\n*n	</a:t>
            </a:r>
          </a:p>
          <a:p>
            <a:pPr marL="457200" lvl="1" indent="0">
              <a:buNone/>
            </a:pPr>
            <a:r>
              <a:rPr lang="en-IN" b="1" dirty="0"/>
              <a:t>}</a:t>
            </a:r>
          </a:p>
          <a:p>
            <a:pPr marL="457200" lvl="1" indent="0">
              <a:buNone/>
            </a:pPr>
            <a:r>
              <a:rPr lang="en-IN" b="1" dirty="0"/>
              <a:t>F(n)= n2+n*(n+1)+n+1=2n2+2n+1=O(n2)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372776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>
                <a:solidFill>
                  <a:srgbClr val="FF0000"/>
                </a:solidFill>
              </a:rPr>
              <a:t>What is the Time Complexity of 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IN" dirty="0" smtClean="0"/>
              <a:t>Multiply Loop</a:t>
            </a:r>
          </a:p>
          <a:p>
            <a:pPr marL="0" indent="0">
              <a:buNone/>
            </a:pPr>
            <a:r>
              <a:rPr lang="en-US" altLang="en-US" b="1" dirty="0" smtClean="0">
                <a:solidFill>
                  <a:schemeClr val="tx1"/>
                </a:solidFill>
              </a:rPr>
              <a:t>for(i=1;i&lt;n; i=i*2)</a:t>
            </a:r>
          </a:p>
          <a:p>
            <a:pPr marL="0" indent="0">
              <a:buNone/>
            </a:pPr>
            <a:r>
              <a:rPr lang="en-US" altLang="en-US" b="1" dirty="0" smtClean="0">
                <a:solidFill>
                  <a:schemeClr val="tx1"/>
                </a:solidFill>
              </a:rPr>
              <a:t>	print(“BCA”)</a:t>
            </a:r>
          </a:p>
          <a:p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IN" dirty="0" smtClean="0"/>
              <a:t>Divide Loop</a:t>
            </a:r>
          </a:p>
          <a:p>
            <a:pPr marL="0" indent="0">
              <a:buNone/>
            </a:pPr>
            <a:r>
              <a:rPr lang="en-US" altLang="en-US" b="1" dirty="0"/>
              <a:t>for(i=n; i&gt;1; i=i/2)</a:t>
            </a:r>
          </a:p>
          <a:p>
            <a:pPr marL="0" indent="0">
              <a:buNone/>
            </a:pPr>
            <a:r>
              <a:rPr lang="en-US" altLang="en-US" b="1" dirty="0"/>
              <a:t>	print(“BCA”)</a:t>
            </a:r>
          </a:p>
          <a:p>
            <a:pPr marL="0" indent="0">
              <a:buNone/>
            </a:pPr>
            <a:endParaRPr lang="en-IN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5589337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 smtClean="0">
                <a:solidFill>
                  <a:srgbClr val="FF0000"/>
                </a:solidFill>
              </a:rPr>
              <a:t>Nested loop- linear logarithmic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b="1" dirty="0"/>
              <a:t>i = 1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b="1" dirty="0"/>
              <a:t>    	loop(I &lt;= n)</a:t>
            </a:r>
          </a:p>
          <a:p>
            <a:pPr lvl="1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en-US" sz="2400" b="1" dirty="0" smtClean="0"/>
              <a:t>	1		j = 1</a:t>
            </a:r>
          </a:p>
          <a:p>
            <a:pPr lvl="1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en-US" sz="2400" b="1" dirty="0" smtClean="0"/>
              <a:t>   2		loop( j &lt; = n)</a:t>
            </a:r>
          </a:p>
          <a:p>
            <a:pPr lv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400" b="1" dirty="0" smtClean="0"/>
              <a:t>   			1	application code					2	j = j *2</a:t>
            </a:r>
          </a:p>
          <a:p>
            <a:pPr lvl="1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en-US" sz="2400" b="1" dirty="0" smtClean="0"/>
              <a:t>    3    I = I + 1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850109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 smtClean="0">
                <a:solidFill>
                  <a:srgbClr val="FF0000"/>
                </a:solidFill>
              </a:rPr>
              <a:t>Dependent Quadratic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for (i=0; i&lt;n ; i++)</a:t>
            </a:r>
          </a:p>
          <a:p>
            <a:pPr marL="0" indent="0">
              <a:buNone/>
            </a:pPr>
            <a:r>
              <a:rPr lang="en-IN" b="1" dirty="0"/>
              <a:t>	 for (j=0; j&lt;i ; j++)</a:t>
            </a:r>
          </a:p>
          <a:p>
            <a:pPr marL="0" indent="0">
              <a:buNone/>
            </a:pPr>
            <a:r>
              <a:rPr lang="en-IN" b="1" dirty="0"/>
              <a:t>	{		Statements		}</a:t>
            </a:r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r>
              <a:rPr lang="en-IN" b="1" dirty="0"/>
              <a:t>1+2+3+4+….+n= n(n+1)/2= O(n2)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386891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>
                <a:solidFill>
                  <a:srgbClr val="FF0000"/>
                </a:solidFill>
              </a:rPr>
              <a:t>Recurrence Relations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 smtClean="0"/>
              <a:t>A function calling itself, is called recursive function.</a:t>
            </a:r>
          </a:p>
          <a:p>
            <a:r>
              <a:rPr lang="en-IN" b="1" dirty="0" smtClean="0"/>
              <a:t>A recurrence is an equation or inequality that describes a function in terms of its value or small inputs.</a:t>
            </a:r>
          </a:p>
          <a:p>
            <a:endParaRPr lang="en-IN" b="1" dirty="0" smtClean="0"/>
          </a:p>
          <a:p>
            <a:r>
              <a:rPr lang="en-IN" b="1" dirty="0" smtClean="0"/>
              <a:t>T(n) =   O(1) ; if n&lt;=c  </a:t>
            </a:r>
          </a:p>
          <a:p>
            <a:r>
              <a:rPr lang="en-IN" b="1" dirty="0" smtClean="0"/>
              <a:t>             else : </a:t>
            </a:r>
            <a:r>
              <a:rPr lang="en-IN" b="1" dirty="0" err="1" smtClean="0"/>
              <a:t>aT</a:t>
            </a:r>
            <a:r>
              <a:rPr lang="en-IN" b="1" dirty="0" smtClean="0"/>
              <a:t>(n/b)+D(n)+c(n)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9859093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Recurrence Relations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i="1" dirty="0"/>
              <a:t>A </a:t>
            </a:r>
            <a:r>
              <a:rPr lang="en-US" b="1" i="1" dirty="0"/>
              <a:t>recurrence relation</a:t>
            </a:r>
            <a:r>
              <a:rPr lang="en-US" i="1" dirty="0"/>
              <a:t> is a mathematical expression that defines a sequence in terms of its previous terms. In the context of algorithmic analysis, it is often used to model the time complexity of recursive algorithms</a:t>
            </a:r>
            <a:r>
              <a:rPr lang="en-US" i="1" dirty="0" smtClean="0"/>
              <a:t>.</a:t>
            </a:r>
          </a:p>
          <a:p>
            <a:r>
              <a:rPr lang="en-US" dirty="0"/>
              <a:t>Some of the common uses of </a:t>
            </a:r>
            <a:r>
              <a:rPr lang="en-US" b="1" dirty="0"/>
              <a:t>Recurrence Relations</a:t>
            </a:r>
            <a:r>
              <a:rPr lang="en-US" dirty="0"/>
              <a:t> are:</a:t>
            </a:r>
            <a:endParaRPr lang="en-US" i="1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8269818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dirty="0"/>
              <a:t>Time Complexity Analysis</a:t>
            </a:r>
          </a:p>
          <a:p>
            <a:pPr fontAlgn="base"/>
            <a:r>
              <a:rPr lang="en-US" dirty="0"/>
              <a:t>Generalizing Divide and Conquer Algorithms</a:t>
            </a:r>
          </a:p>
          <a:p>
            <a:pPr fontAlgn="base"/>
            <a:r>
              <a:rPr lang="en-US" dirty="0"/>
              <a:t>Analyzing Recursive Algorithms</a:t>
            </a:r>
          </a:p>
          <a:p>
            <a:pPr fontAlgn="base"/>
            <a:r>
              <a:rPr lang="en-US"/>
              <a:t>Defining State and Transitions for Dynamic Programming.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479253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/>
              <a:t>Recurrence  Relations Solution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3600" b="1" dirty="0" smtClean="0"/>
              <a:t>Three Types:</a:t>
            </a:r>
          </a:p>
          <a:p>
            <a:pPr lvl="1"/>
            <a:r>
              <a:rPr lang="en-IN" sz="3200" b="1" dirty="0" smtClean="0"/>
              <a:t>Substitution Method</a:t>
            </a:r>
          </a:p>
          <a:p>
            <a:pPr lvl="1"/>
            <a:r>
              <a:rPr lang="en-IN" sz="3200" b="1" dirty="0" smtClean="0"/>
              <a:t>Iteration Method</a:t>
            </a:r>
          </a:p>
          <a:p>
            <a:pPr lvl="1"/>
            <a:r>
              <a:rPr lang="en-IN" sz="3200" b="1" dirty="0" smtClean="0"/>
              <a:t>Recursion Tree Method</a:t>
            </a:r>
          </a:p>
          <a:p>
            <a:pPr lvl="1"/>
            <a:r>
              <a:rPr lang="en-IN" sz="3200" b="1" dirty="0" smtClean="0"/>
              <a:t>Masters Theorem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9856921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/>
              <a:t>Substitution Method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800" b="1" dirty="0" smtClean="0"/>
              <a:t>In Substitution Method, we guess a bound and then use mathematical induction method to prove our guess correct.</a:t>
            </a:r>
          </a:p>
          <a:p>
            <a:r>
              <a:rPr lang="en-IN" sz="2800" b="1" dirty="0" smtClean="0"/>
              <a:t>The substitution method entails two steps:</a:t>
            </a:r>
          </a:p>
          <a:p>
            <a:pPr lvl="1"/>
            <a:r>
              <a:rPr lang="en-IN" sz="2400" b="1" dirty="0" smtClean="0"/>
              <a:t>Guess the form of the solution.</a:t>
            </a:r>
          </a:p>
          <a:p>
            <a:pPr lvl="1"/>
            <a:r>
              <a:rPr lang="en-IN" sz="2400" b="1" dirty="0" smtClean="0"/>
              <a:t>Use  mathematical induction to find the constants and show the solution works.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162113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smtClean="0"/>
              <a:t>Forward Iterative </a:t>
            </a:r>
            <a:r>
              <a:rPr lang="en-IN" b="1" dirty="0" smtClean="0"/>
              <a:t>Method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Ex: solve the following recurrence relation by forward substitution method.</a:t>
            </a:r>
          </a:p>
          <a:p>
            <a:pPr marL="0" indent="0">
              <a:buNone/>
            </a:pPr>
            <a:r>
              <a:rPr lang="en-US" dirty="0" smtClean="0"/>
              <a:t>T(n)=T(n-1)+1  if n&gt;1</a:t>
            </a:r>
          </a:p>
          <a:p>
            <a:pPr marL="0" indent="0">
              <a:buNone/>
            </a:pPr>
            <a:r>
              <a:rPr lang="en-US" dirty="0" smtClean="0"/>
              <a:t>T(1)=1               if  n=1</a:t>
            </a:r>
          </a:p>
          <a:p>
            <a:pPr marL="0" indent="0">
              <a:buNone/>
            </a:pPr>
            <a:r>
              <a:rPr lang="en-US" dirty="0" smtClean="0"/>
              <a:t>Solution:</a:t>
            </a:r>
          </a:p>
          <a:p>
            <a:pPr marL="0" indent="0">
              <a:buNone/>
            </a:pPr>
            <a:r>
              <a:rPr lang="en-US" dirty="0" smtClean="0"/>
              <a:t>We have given recurrence rela</a:t>
            </a:r>
            <a:r>
              <a:rPr lang="en-US" dirty="0"/>
              <a:t>t</a:t>
            </a:r>
            <a:r>
              <a:rPr lang="en-US" dirty="0" smtClean="0"/>
              <a:t>ion</a:t>
            </a:r>
          </a:p>
          <a:p>
            <a:pPr marL="0" indent="0">
              <a:buNone/>
            </a:pPr>
            <a:r>
              <a:rPr lang="en-US" dirty="0" smtClean="0"/>
              <a:t>T(n)=T(n-1)+1 -------------- (1)</a:t>
            </a:r>
          </a:p>
          <a:p>
            <a:pPr marL="0" indent="0">
              <a:buNone/>
            </a:pPr>
            <a:r>
              <a:rPr lang="en-US" dirty="0" smtClean="0"/>
              <a:t>firs</a:t>
            </a:r>
            <a:r>
              <a:rPr lang="en-US" dirty="0"/>
              <a:t>t</a:t>
            </a:r>
            <a:r>
              <a:rPr lang="en-US" dirty="0" smtClean="0"/>
              <a:t> we put n=2 in equation 1, </a:t>
            </a:r>
          </a:p>
          <a:p>
            <a:pPr marL="0" indent="0">
              <a:buNone/>
            </a:pPr>
            <a:r>
              <a:rPr lang="en-US" dirty="0" smtClean="0"/>
              <a:t>We ge</a:t>
            </a:r>
            <a:r>
              <a:rPr lang="en-US" dirty="0"/>
              <a:t>t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6342935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Continue…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 smtClean="0"/>
              <a:t>T(2)=T(2-1)+1</a:t>
            </a:r>
          </a:p>
          <a:p>
            <a:pPr marL="0" indent="0">
              <a:buNone/>
            </a:pPr>
            <a:r>
              <a:rPr lang="en-US" dirty="0" smtClean="0"/>
              <a:t>T(2)=T(1)+1</a:t>
            </a:r>
          </a:p>
          <a:p>
            <a:pPr marL="0" indent="0">
              <a:buNone/>
            </a:pPr>
            <a:r>
              <a:rPr lang="en-US" dirty="0" smtClean="0"/>
              <a:t>T(2)=1+1  </a:t>
            </a:r>
          </a:p>
          <a:p>
            <a:pPr marL="0" indent="0">
              <a:buNone/>
            </a:pPr>
            <a:r>
              <a:rPr lang="en-US" dirty="0" smtClean="0"/>
              <a:t>T(2)=2  ---------(2)</a:t>
            </a:r>
          </a:p>
          <a:p>
            <a:pPr marL="0" indent="0">
              <a:buNone/>
            </a:pPr>
            <a:r>
              <a:rPr lang="en-US" dirty="0" smtClean="0"/>
              <a:t>Now we put n=3 in equa</a:t>
            </a:r>
            <a:r>
              <a:rPr lang="en-US" dirty="0"/>
              <a:t>t</a:t>
            </a:r>
            <a:r>
              <a:rPr lang="en-US" dirty="0" smtClean="0"/>
              <a:t>ion (1)</a:t>
            </a:r>
          </a:p>
          <a:p>
            <a:pPr marL="0" indent="0">
              <a:buNone/>
            </a:pPr>
            <a:r>
              <a:rPr lang="en-US" dirty="0" smtClean="0"/>
              <a:t>T(3)=T(3-1)+1</a:t>
            </a:r>
          </a:p>
          <a:p>
            <a:pPr marL="0" indent="0">
              <a:buNone/>
            </a:pPr>
            <a:r>
              <a:rPr lang="en-US" dirty="0" smtClean="0"/>
              <a:t>T(3)=T(2)+1</a:t>
            </a:r>
          </a:p>
          <a:p>
            <a:pPr marL="0" indent="0">
              <a:buNone/>
            </a:pPr>
            <a:r>
              <a:rPr lang="en-US" dirty="0" smtClean="0"/>
              <a:t>T(3)=2+1=3--------(3)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2170597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Continue…..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 smtClean="0"/>
              <a:t>Now  we  put n=4 in equation (1),  we will get</a:t>
            </a:r>
          </a:p>
          <a:p>
            <a:pPr marL="0" indent="0">
              <a:buNone/>
            </a:pPr>
            <a:r>
              <a:rPr lang="en-US" dirty="0" smtClean="0"/>
              <a:t>T(4)=T(4-1)+1</a:t>
            </a:r>
          </a:p>
          <a:p>
            <a:pPr marL="0" indent="0">
              <a:buNone/>
            </a:pPr>
            <a:r>
              <a:rPr lang="en-US" dirty="0" smtClean="0"/>
              <a:t>T(4)=T(3)+1</a:t>
            </a:r>
          </a:p>
          <a:p>
            <a:pPr marL="0" indent="0">
              <a:buNone/>
            </a:pPr>
            <a:r>
              <a:rPr lang="en-US" dirty="0" smtClean="0"/>
              <a:t>T(4)=3+1</a:t>
            </a:r>
          </a:p>
          <a:p>
            <a:pPr marL="0" indent="0">
              <a:buNone/>
            </a:pPr>
            <a:r>
              <a:rPr lang="en-US" dirty="0" smtClean="0"/>
              <a:t>T(4)=4------------(4)</a:t>
            </a:r>
          </a:p>
          <a:p>
            <a:pPr marL="0" indent="0">
              <a:buNone/>
            </a:pPr>
            <a:r>
              <a:rPr lang="en-US" dirty="0" smtClean="0"/>
              <a:t>From equation (1),(2),(3) and  (4) we can observe that</a:t>
            </a:r>
          </a:p>
          <a:p>
            <a:pPr marL="0" indent="0">
              <a:buNone/>
            </a:pPr>
            <a:r>
              <a:rPr lang="en-US" dirty="0" smtClean="0"/>
              <a:t>T(n)=n</a:t>
            </a:r>
          </a:p>
          <a:p>
            <a:pPr marL="0" indent="0">
              <a:buNone/>
            </a:pPr>
            <a:r>
              <a:rPr lang="en-US" dirty="0" smtClean="0"/>
              <a:t>So therefore  the  time complexity will be</a:t>
            </a:r>
          </a:p>
          <a:p>
            <a:pPr marL="0" indent="0">
              <a:buNone/>
            </a:pPr>
            <a:r>
              <a:rPr lang="en-US" dirty="0" smtClean="0"/>
              <a:t>T(n)=O(n)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75423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/>
              <a:t>Iterative Method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b="1" dirty="0" smtClean="0"/>
              <a:t>The iterative method, also known as backward substitution method, is a technique, which is used to solve a recurrence relation to find its time complexity.</a:t>
            </a:r>
          </a:p>
          <a:p>
            <a:r>
              <a:rPr lang="en-IN" b="1" dirty="0" smtClean="0"/>
              <a:t>The basic idea is to expand the recurrence and express it as a summation of terms dependent only on ’n’ and the initial conditions.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203792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Design Strategy</a:t>
            </a:r>
            <a:endParaRPr lang="en-US" dirty="0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z="2800" smtClean="0"/>
              <a:t>Divide &amp; Conquer approach</a:t>
            </a:r>
          </a:p>
          <a:p>
            <a:pPr eaLnBrk="1" hangingPunct="1"/>
            <a:r>
              <a:rPr lang="en-US" sz="2800" smtClean="0"/>
              <a:t>Greedy Approach</a:t>
            </a:r>
          </a:p>
          <a:p>
            <a:pPr eaLnBrk="1" hangingPunct="1"/>
            <a:r>
              <a:rPr lang="en-US" sz="2800" smtClean="0"/>
              <a:t>Dynamic Programming Approach</a:t>
            </a:r>
          </a:p>
          <a:p>
            <a:pPr eaLnBrk="1" hangingPunct="1"/>
            <a:r>
              <a:rPr lang="en-US" sz="2800" smtClean="0"/>
              <a:t>Backtracking Approach</a:t>
            </a:r>
          </a:p>
          <a:p>
            <a:pPr eaLnBrk="1" hangingPunct="1"/>
            <a:r>
              <a:rPr lang="en-US" sz="2800" smtClean="0"/>
              <a:t>Branch and Bound Approach</a:t>
            </a:r>
            <a:endParaRPr lang="en-IN" sz="2800" smtClean="0"/>
          </a:p>
        </p:txBody>
      </p:sp>
    </p:spTree>
    <p:extLst>
      <p:ext uri="{BB962C8B-B14F-4D97-AF65-F5344CB8AC3E}">
        <p14:creationId xmlns:p14="http://schemas.microsoft.com/office/powerpoint/2010/main" xmlns="" val="8914383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>
                <a:solidFill>
                  <a:schemeClr val="accent4"/>
                </a:solidFill>
              </a:rPr>
              <a:t>Algorithm Techniques: Divide &amp; Conquer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spcBef>
                <a:spcPct val="0"/>
              </a:spcBef>
              <a:spcAft>
                <a:spcPct val="0"/>
              </a:spcAft>
            </a:pPr>
            <a:r>
              <a:rPr lang="en-IN" sz="2800" dirty="0"/>
              <a:t>In divide and conquer approach, the problem is divided into several small sub problems.</a:t>
            </a:r>
          </a:p>
          <a:p>
            <a:pPr algn="just">
              <a:spcBef>
                <a:spcPct val="0"/>
              </a:spcBef>
              <a:spcAft>
                <a:spcPct val="0"/>
              </a:spcAft>
            </a:pPr>
            <a:r>
              <a:rPr lang="en-IN" sz="2800" dirty="0"/>
              <a:t>Then the sub problems are solved recursively &amp; combined to get the solution of original problem.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IN" sz="2800" dirty="0"/>
              <a:t>It involves following steps at each level:</a:t>
            </a:r>
          </a:p>
          <a:p>
            <a:pPr lvl="1">
              <a:spcBef>
                <a:spcPct val="0"/>
              </a:spcBef>
              <a:spcAft>
                <a:spcPct val="0"/>
              </a:spcAft>
            </a:pPr>
            <a:r>
              <a:rPr lang="en-IN" sz="2400" b="1" dirty="0"/>
              <a:t>Divide:  </a:t>
            </a:r>
            <a:r>
              <a:rPr lang="en-IN" sz="2400" dirty="0"/>
              <a:t>The original sub problem is divided into sub problems.</a:t>
            </a:r>
          </a:p>
          <a:p>
            <a:pPr lvl="1">
              <a:spcBef>
                <a:spcPct val="0"/>
              </a:spcBef>
              <a:spcAft>
                <a:spcPct val="0"/>
              </a:spcAft>
            </a:pPr>
            <a:r>
              <a:rPr lang="en-IN" sz="2400" b="1" dirty="0"/>
              <a:t>Conquer:  </a:t>
            </a:r>
            <a:r>
              <a:rPr lang="en-IN" sz="2400" dirty="0"/>
              <a:t>The sub problems are solved recursively.</a:t>
            </a:r>
          </a:p>
          <a:p>
            <a:pPr lvl="1">
              <a:spcBef>
                <a:spcPct val="0"/>
              </a:spcBef>
              <a:spcAft>
                <a:spcPct val="0"/>
              </a:spcAft>
            </a:pPr>
            <a:r>
              <a:rPr lang="en-IN" sz="2400" b="1" dirty="0"/>
              <a:t>Combine:  </a:t>
            </a:r>
            <a:r>
              <a:rPr lang="en-IN" sz="2400" dirty="0"/>
              <a:t>Solutions of sub problems are combined together to get solution of original problem.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8363792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Binary Search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Binary search, also known as half-interval or logarithmic search, is a search algorithm that finds the position of target value within a sorted array.</a:t>
            </a:r>
          </a:p>
          <a:p>
            <a:r>
              <a:rPr lang="en-IN" b="1" dirty="0"/>
              <a:t>Binary search is a fast search algorithm with run time complexity, of O(log n) .</a:t>
            </a:r>
          </a:p>
          <a:p>
            <a:r>
              <a:rPr lang="en-IN" b="1" dirty="0"/>
              <a:t>This algorithm works on principle of divide and conquer.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7472403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Binary Search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Binary search compares the target value to the middle element of the array.</a:t>
            </a:r>
          </a:p>
          <a:p>
            <a:r>
              <a:rPr lang="en-IN" dirty="0"/>
              <a:t>If they are not equal, the half, in which target cannot lie is eliminated &amp; search continues on the remaining half, again by taking the middle element to compare the target value.</a:t>
            </a:r>
          </a:p>
          <a:p>
            <a:r>
              <a:rPr lang="en-IN" dirty="0"/>
              <a:t> This continues until the target value is found. If the search ends with remaining half being empty, the target is not present in the array.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0085521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Algorithm of Binary Search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 err="1" smtClean="0"/>
              <a:t>int</a:t>
            </a:r>
            <a:r>
              <a:rPr lang="en-US" dirty="0" smtClean="0"/>
              <a:t> </a:t>
            </a:r>
            <a:r>
              <a:rPr lang="en-US" dirty="0" err="1" smtClean="0"/>
              <a:t>b_search</a:t>
            </a:r>
            <a:r>
              <a:rPr lang="en-US" dirty="0" smtClean="0"/>
              <a:t>(a[],</a:t>
            </a:r>
            <a:r>
              <a:rPr lang="en-US" dirty="0" err="1" smtClean="0"/>
              <a:t>low,high,key</a:t>
            </a:r>
            <a:r>
              <a:rPr lang="en-US" dirty="0" smtClean="0"/>
              <a:t>)</a:t>
            </a:r>
          </a:p>
          <a:p>
            <a:pPr marL="0" indent="0">
              <a:buNone/>
            </a:pPr>
            <a:r>
              <a:rPr lang="en-US" dirty="0" smtClean="0"/>
              <a:t>{</a:t>
            </a:r>
          </a:p>
          <a:p>
            <a:pPr marL="0" indent="0">
              <a:buNone/>
            </a:pPr>
            <a:r>
              <a:rPr lang="en-US" dirty="0" smtClean="0"/>
              <a:t>    if(a[l)==key)</a:t>
            </a:r>
          </a:p>
          <a:p>
            <a:pPr marL="0" indent="0">
              <a:buNone/>
            </a:pPr>
            <a:r>
              <a:rPr lang="en-US" dirty="0" smtClean="0"/>
              <a:t>{</a:t>
            </a:r>
          </a:p>
          <a:p>
            <a:pPr marL="0" indent="0">
              <a:buNone/>
            </a:pPr>
            <a:r>
              <a:rPr lang="en-US" dirty="0" smtClean="0"/>
              <a:t>     return l;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}</a:t>
            </a:r>
          </a:p>
          <a:p>
            <a:pPr marL="0" indent="0">
              <a:buNone/>
            </a:pPr>
            <a:r>
              <a:rPr lang="en-US" dirty="0" smtClean="0"/>
              <a:t>   else</a:t>
            </a:r>
          </a:p>
          <a:p>
            <a:pPr marL="0" indent="0">
              <a:buNone/>
            </a:pPr>
            <a:r>
              <a:rPr lang="en-US" dirty="0" smtClean="0"/>
              <a:t>       {</a:t>
            </a:r>
          </a:p>
          <a:p>
            <a:pPr marL="0" indent="0">
              <a:buNone/>
            </a:pPr>
            <a:r>
              <a:rPr lang="en-US" dirty="0" smtClean="0"/>
              <a:t>           return 0;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}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1852031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 smtClean="0"/>
              <a:t>else</a:t>
            </a:r>
          </a:p>
          <a:p>
            <a:pPr marL="0" indent="0">
              <a:buNone/>
            </a:pPr>
            <a:r>
              <a:rPr lang="en-US" dirty="0" smtClean="0"/>
              <a:t>{</a:t>
            </a:r>
          </a:p>
          <a:p>
            <a:pPr marL="0" indent="0">
              <a:buNone/>
            </a:pPr>
            <a:r>
              <a:rPr lang="en-US" dirty="0" smtClean="0"/>
              <a:t>        mid==(</a:t>
            </a:r>
            <a:r>
              <a:rPr lang="en-US" dirty="0" err="1" smtClean="0"/>
              <a:t>low+high</a:t>
            </a:r>
            <a:r>
              <a:rPr lang="en-US" dirty="0" smtClean="0"/>
              <a:t>)/2;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  if(key==a[mid])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       return mid;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   if(key&lt;a[mid])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      return </a:t>
            </a:r>
            <a:r>
              <a:rPr lang="en-US" dirty="0" err="1" smtClean="0"/>
              <a:t>b_search</a:t>
            </a:r>
            <a:r>
              <a:rPr lang="en-US" dirty="0" smtClean="0"/>
              <a:t>(low,mid-1,key);</a:t>
            </a:r>
          </a:p>
          <a:p>
            <a:pPr marL="0" indent="0">
              <a:buNone/>
            </a:pPr>
            <a:r>
              <a:rPr lang="en-US" dirty="0" smtClean="0"/>
              <a:t>            else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       return </a:t>
            </a:r>
            <a:r>
              <a:rPr lang="en-US" dirty="0" err="1" smtClean="0"/>
              <a:t>b_search</a:t>
            </a:r>
            <a:r>
              <a:rPr lang="en-US" dirty="0" smtClean="0"/>
              <a:t>(low+1,mid,key);</a:t>
            </a: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}</a:t>
            </a:r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835679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algn="just"/>
            <a:r>
              <a:rPr lang="en-US" dirty="0"/>
              <a:t>The matrix multiplication of algorithm due to </a:t>
            </a:r>
            <a:r>
              <a:rPr lang="en-US" dirty="0" err="1"/>
              <a:t>Strassens</a:t>
            </a:r>
            <a:r>
              <a:rPr lang="en-US" dirty="0"/>
              <a:t> is the most dramatic example of divide and conquer technique (1969). </a:t>
            </a:r>
          </a:p>
          <a:p>
            <a:pPr algn="just"/>
            <a:r>
              <a:rPr lang="en-US" dirty="0"/>
              <a:t>The usual way to multiply two n x n matrices A and B, yielding result matrix ‘C’ as follows : </a:t>
            </a:r>
          </a:p>
          <a:p>
            <a:pPr marL="0" indent="0">
              <a:buNone/>
            </a:pPr>
            <a:r>
              <a:rPr lang="pt-BR" dirty="0"/>
              <a:t>	for i := 1 to n do </a:t>
            </a:r>
          </a:p>
          <a:p>
            <a:pPr marL="0" indent="0">
              <a:buNone/>
            </a:pPr>
            <a:r>
              <a:rPr lang="pt-BR" dirty="0"/>
              <a:t>		for j :=1 to n do </a:t>
            </a:r>
          </a:p>
          <a:p>
            <a:pPr marL="0" indent="0">
              <a:buNone/>
            </a:pPr>
            <a:r>
              <a:rPr lang="en-IN" dirty="0"/>
              <a:t>			c[i, j] := 0; </a:t>
            </a:r>
          </a:p>
          <a:p>
            <a:pPr marL="0" indent="0">
              <a:buNone/>
            </a:pPr>
            <a:r>
              <a:rPr lang="en-IN" dirty="0"/>
              <a:t>			for k: = 1 to n do </a:t>
            </a:r>
          </a:p>
          <a:p>
            <a:pPr marL="0" indent="0">
              <a:buNone/>
            </a:pPr>
            <a:r>
              <a:rPr lang="en-US" dirty="0"/>
              <a:t>				</a:t>
            </a:r>
            <a:r>
              <a:rPr lang="pl-PL" dirty="0"/>
              <a:t>c[i, j] := c[i, j] + a[i, k] * b[k, j]; </a:t>
            </a:r>
            <a:endParaRPr lang="en-IN" dirty="0"/>
          </a:p>
          <a:p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STRASSEN’S MATRIX MULTIPLICATION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3813456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This algorithm requires n</a:t>
            </a:r>
            <a:r>
              <a:rPr lang="en-US" baseline="30000" dirty="0"/>
              <a:t>3</a:t>
            </a:r>
            <a:r>
              <a:rPr lang="en-US" dirty="0"/>
              <a:t> scalar multiplication’s (i.e. multiplication of single numbers) and n</a:t>
            </a:r>
            <a:r>
              <a:rPr lang="en-US" baseline="30000" dirty="0"/>
              <a:t>3</a:t>
            </a:r>
            <a:r>
              <a:rPr lang="en-US" dirty="0"/>
              <a:t> scalar additions. </a:t>
            </a:r>
          </a:p>
          <a:p>
            <a:pPr algn="just"/>
            <a:r>
              <a:rPr lang="en-US" dirty="0"/>
              <a:t>So we naturally cannot improve upon.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2006455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BLOCK PARTITIONING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57200" y="1749987"/>
            <a:ext cx="8229600" cy="4226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799128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BLOCK PARTITIONING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33400" y="1219200"/>
            <a:ext cx="8153400" cy="495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0199398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57200" y="1447801"/>
            <a:ext cx="8229600" cy="4523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3659046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algn="just"/>
            <a:r>
              <a:rPr lang="en-US" dirty="0"/>
              <a:t>Divide the input matrices A and B into n/2 x n/2 sub-matrices, which takes Θ(1) time by performing index calculations.</a:t>
            </a:r>
          </a:p>
          <a:p>
            <a:pPr algn="just"/>
            <a:r>
              <a:rPr lang="en-US" dirty="0"/>
              <a:t>Create 10 matrices S1, S2, S3, … S10 each of which is the sum or difference of two matrices created in step 1.</a:t>
            </a:r>
          </a:p>
          <a:p>
            <a:pPr algn="just"/>
            <a:r>
              <a:rPr lang="en-US" dirty="0"/>
              <a:t>Using the sub-matrices created from both of the steps above, recursively compute seven matrix products P1, P2, … P7. </a:t>
            </a:r>
          </a:p>
          <a:p>
            <a:pPr algn="just"/>
            <a:r>
              <a:rPr lang="en-US" dirty="0"/>
              <a:t>Each matrix Pi is of size n/2 x n/2.</a:t>
            </a:r>
          </a:p>
          <a:p>
            <a:pPr algn="just"/>
            <a:r>
              <a:rPr lang="en-US" dirty="0"/>
              <a:t>Get the desired sub-matrices C11, C12, C21, and C22 of the result matrix C by adding and subtracting various combinations of the Pi sub-matrices.</a:t>
            </a:r>
            <a:endParaRPr lang="en-IN" dirty="0"/>
          </a:p>
          <a:p>
            <a:pPr algn="just"/>
            <a:endParaRPr lang="en-IN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582171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3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09600" y="1524000"/>
            <a:ext cx="303536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4"/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810000" y="1524000"/>
            <a:ext cx="4876800" cy="48005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xmlns="" val="3159381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57200" y="1600200"/>
            <a:ext cx="82296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2002868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487</TotalTime>
  <Words>2042</Words>
  <Application>Microsoft Office PowerPoint</Application>
  <PresentationFormat>On-screen Show (4:3)</PresentationFormat>
  <Paragraphs>274</Paragraphs>
  <Slides>51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2" baseType="lpstr">
      <vt:lpstr>Office Theme</vt:lpstr>
      <vt:lpstr>Introduction to Algorithms</vt:lpstr>
      <vt:lpstr>Algorithm: Definition</vt:lpstr>
      <vt:lpstr>Algorithm: Characteristics</vt:lpstr>
      <vt:lpstr>Algorithm vs Program </vt:lpstr>
      <vt:lpstr>Analysis of Algorithms</vt:lpstr>
      <vt:lpstr>Complexity of an Algorithm</vt:lpstr>
      <vt:lpstr>Space Complexity</vt:lpstr>
      <vt:lpstr>Time Complexity</vt:lpstr>
      <vt:lpstr>Time Complexity (contd)</vt:lpstr>
      <vt:lpstr>Frequency Count Method</vt:lpstr>
      <vt:lpstr>Asymptotic Analysis of Algorithms</vt:lpstr>
      <vt:lpstr>Analysis of Algorithms: Growth Rate </vt:lpstr>
      <vt:lpstr>Analysis of Algorithms: Growth Rate</vt:lpstr>
      <vt:lpstr>Analysis of Algorithms: Asymptotic Notations</vt:lpstr>
      <vt:lpstr>Analysis of Algorithms: Asymptotic Notations</vt:lpstr>
      <vt:lpstr>Asymptotic Notations: Big O Notations</vt:lpstr>
      <vt:lpstr>Asymptotic Notations: Big O Notation</vt:lpstr>
      <vt:lpstr>Asymptotic Notations: Big O Notation</vt:lpstr>
      <vt:lpstr>Asymptotic Notations: Big Ω Notation</vt:lpstr>
      <vt:lpstr>Asymptotic Notations: Big Ω Notation</vt:lpstr>
      <vt:lpstr>Asymptotic Notations: Big Ɵ Notation</vt:lpstr>
      <vt:lpstr>Asymptotic Notations: Big (Theta) Ɵ Notation</vt:lpstr>
      <vt:lpstr>Asymptotic Notations: Big (Theta) Ɵ Notation</vt:lpstr>
      <vt:lpstr>Examples :  Constant &amp; Linear loop</vt:lpstr>
      <vt:lpstr>Examples : Square  loop</vt:lpstr>
      <vt:lpstr>What is the Time Complexity of ?</vt:lpstr>
      <vt:lpstr>Nested loop- linear logarithmic</vt:lpstr>
      <vt:lpstr>Dependent Quadratic</vt:lpstr>
      <vt:lpstr>Recurrence Relations</vt:lpstr>
      <vt:lpstr>Recurrence Relations</vt:lpstr>
      <vt:lpstr>Slide 31</vt:lpstr>
      <vt:lpstr>Recurrence  Relations Solution</vt:lpstr>
      <vt:lpstr>Substitution Method</vt:lpstr>
      <vt:lpstr>Forward Iterative Method</vt:lpstr>
      <vt:lpstr>Continue…</vt:lpstr>
      <vt:lpstr>Continue…..</vt:lpstr>
      <vt:lpstr>Iterative Method</vt:lpstr>
      <vt:lpstr>Design Strategy</vt:lpstr>
      <vt:lpstr>Algorithm Techniques: Divide &amp; Conquer</vt:lpstr>
      <vt:lpstr>Binary Search</vt:lpstr>
      <vt:lpstr>Binary Search</vt:lpstr>
      <vt:lpstr>Algorithm of Binary Search </vt:lpstr>
      <vt:lpstr>Slide 43</vt:lpstr>
      <vt:lpstr>STRASSEN’S MATRIX MULTIPLICATION</vt:lpstr>
      <vt:lpstr>Slide 45</vt:lpstr>
      <vt:lpstr>BLOCK PARTITIONING</vt:lpstr>
      <vt:lpstr>BLOCK PARTITIONING</vt:lpstr>
      <vt:lpstr>Slide 48</vt:lpstr>
      <vt:lpstr>ALGORITHM</vt:lpstr>
      <vt:lpstr>Slide 50</vt:lpstr>
      <vt:lpstr>Slide 51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Algorithms</dc:title>
  <dc:creator>piyush</dc:creator>
  <cp:lastModifiedBy>Ak</cp:lastModifiedBy>
  <cp:revision>33</cp:revision>
  <dcterms:created xsi:type="dcterms:W3CDTF">2024-07-19T08:52:05Z</dcterms:created>
  <dcterms:modified xsi:type="dcterms:W3CDTF">2025-08-26T16:55:40Z</dcterms:modified>
</cp:coreProperties>
</file>